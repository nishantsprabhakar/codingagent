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Weighted analyst score (out of 100)</c:v>
                </c:pt>
              </c:strCache>
            </c:strRef>
          </c:tx>
          <c:spPr>
            <a:solidFill>
              <a:srgbClr val="33E0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8FA0B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E0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E6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6B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FB45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7CF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ADE80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Wrexlyn</c:v>
                  </c:pt>
                  <c:pt idx="1">
                    <c:v>OpenAI Codex</c:v>
                  </c:pt>
                  <c:pt idx="2">
                    <c:v>Cursor</c:v>
                  </c:pt>
                  <c:pt idx="3">
                    <c:v>GitHub Copilot</c:v>
                  </c:pt>
                  <c:pt idx="4">
                    <c:v>Claude Code</c:v>
                  </c:pt>
                  <c:pt idx="5">
                    <c:v>Aider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81</c:v>
                </c:pt>
                <c:pt idx="1">
                  <c:v>84</c:v>
                </c:pt>
                <c:pt idx="2">
                  <c:v>82</c:v>
                </c:pt>
                <c:pt idx="3">
                  <c:v>80</c:v>
                </c:pt>
                <c:pt idx="4">
                  <c:v>78</c:v>
                </c:pt>
                <c:pt idx="5">
                  <c:v>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8FA0B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FA0B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232E4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FA0B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AI dev-tools TAM ($B, directional)</c:v>
                </c:pt>
              </c:strCache>
            </c:strRef>
          </c:tx>
          <c:spPr>
            <a:solidFill>
              <a:srgbClr val="33E0A8"/>
            </a:solidFill>
            <a:ln w="25400" cap="flat">
              <a:solidFill>
                <a:srgbClr val="33E0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8FA0B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3E0A8"/>
              </a:solidFill>
              <a:ln w="9525" cap="flat">
                <a:solidFill>
                  <a:srgbClr val="33E0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Today</c:v>
                  </c:pt>
                  <c:pt idx="1">
                    <c:v>+2 years</c:v>
                  </c:pt>
                  <c:pt idx="2">
                    <c:v>+4 years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</c:v>
                </c:pt>
                <c:pt idx="1">
                  <c:v>30</c:v>
                </c:pt>
                <c:pt idx="2">
                  <c:v>55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8FA0B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FA0B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232E4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FA0B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879238" cy="438912"/>
          </a:xfrm>
          <a:prstGeom prst="roundRect">
            <a:avLst>
              <a:gd name="adj" fmla="val 50000"/>
            </a:avLst>
          </a:prstGeom>
          <a:solidFill>
            <a:srgbClr val="0A0E17"/>
          </a:solidFill>
          <a:ln w="12700">
            <a:solidFill>
              <a:srgbClr val="33E0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57200"/>
            <a:ext cx="460491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33E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INVESTMENT THESIS   ·   AI DEVELOPER TOOLS   ·   2026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model-independent execution layer that turns any compatible LLM into a governed, verified, recoverable software delivery system.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457200" y="3200400"/>
            <a:ext cx="1947672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3200400"/>
            <a:ext cx="41148" cy="713232"/>
          </a:xfrm>
          <a:prstGeom prst="rect">
            <a:avLst/>
          </a:prstGeom>
          <a:solidFill>
            <a:srgbClr val="33E0A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3291840"/>
            <a:ext cx="16550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3E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657600"/>
            <a:ext cx="165506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phases shipped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51176" y="3200400"/>
            <a:ext cx="1947672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1176" y="3200400"/>
            <a:ext cx="41148" cy="713232"/>
          </a:xfrm>
          <a:prstGeom prst="rect">
            <a:avLst/>
          </a:prstGeom>
          <a:solidFill>
            <a:srgbClr val="33E0A8"/>
          </a:solidFill>
          <a:ln/>
        </p:spPr>
      </p:sp>
      <p:sp>
        <p:nvSpPr>
          <p:cNvPr id="12" name="Text 10"/>
          <p:cNvSpPr/>
          <p:nvPr/>
        </p:nvSpPr>
        <p:spPr>
          <a:xfrm>
            <a:off x="2734056" y="3291840"/>
            <a:ext cx="16550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3E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330+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734056" y="3657600"/>
            <a:ext cx="165506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tests, 0 regressions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45152" y="3200400"/>
            <a:ext cx="1947672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45152" y="3200400"/>
            <a:ext cx="41148" cy="713232"/>
          </a:xfrm>
          <a:prstGeom prst="rect">
            <a:avLst/>
          </a:prstGeom>
          <a:solidFill>
            <a:srgbClr val="33E0A8"/>
          </a:solidFill>
          <a:ln/>
        </p:spPr>
      </p:sp>
      <p:sp>
        <p:nvSpPr>
          <p:cNvPr id="16" name="Text 14"/>
          <p:cNvSpPr/>
          <p:nvPr/>
        </p:nvSpPr>
        <p:spPr>
          <a:xfrm>
            <a:off x="4828032" y="3291840"/>
            <a:ext cx="16550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3E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828032" y="3657600"/>
            <a:ext cx="165506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providers &amp; local runtimes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39128" y="3200400"/>
            <a:ext cx="1947672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39128" y="3200400"/>
            <a:ext cx="41148" cy="713232"/>
          </a:xfrm>
          <a:prstGeom prst="rect">
            <a:avLst/>
          </a:prstGeom>
          <a:solidFill>
            <a:srgbClr val="33E0A8"/>
          </a:solidFill>
          <a:ln/>
        </p:spPr>
      </p:sp>
      <p:sp>
        <p:nvSpPr>
          <p:cNvPr id="20" name="Text 18"/>
          <p:cNvSpPr/>
          <p:nvPr/>
        </p:nvSpPr>
        <p:spPr>
          <a:xfrm>
            <a:off x="6922008" y="3291840"/>
            <a:ext cx="16550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3E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922008" y="3657600"/>
            <a:ext cx="165506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scoring algorithms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by Nishant Prabhakar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66928" cy="566928"/>
          </a:xfrm>
          <a:prstGeom prst="ellipse">
            <a:avLst/>
          </a:prstGeom>
          <a:solidFill>
            <a:srgbClr val="33E0A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88720" y="182880"/>
            <a:ext cx="7498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3E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502920"/>
            <a:ext cx="749808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generation is abundant. Trustworthy delivery is not.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82296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is no longer the bottleneck.</a:t>
            </a:r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Teams lose time validating patches, undoing regressions, and reconstructing context.</a:t>
            </a:r>
            <a:endParaRPr lang="en-US" sz="15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lock-in compounds cost.</a:t>
            </a:r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Most agent products fuse the workflow to one model, one cloud, one commercial roadmap.</a:t>
            </a:r>
            <a:endParaRPr lang="en-US" sz="15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without evidence creates hidden work.</a:t>
            </a:r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fluent answer is not a passing build, a safe mutation, or a recoverable change.</a:t>
            </a:r>
            <a:endParaRPr lang="en-US" sz="15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 productizes the missing layer:</a:t>
            </a:r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governed execution, deterministic verification, evidence, and recovery — around whichever model the customer chooses.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457200" y="473659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286000" y="47365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A $100M VALUATION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955280" y="47365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66928" cy="566928"/>
          </a:xfrm>
          <a:prstGeom prst="ellipse">
            <a:avLst/>
          </a:prstGeom>
          <a:solidFill>
            <a:srgbClr val="33E0A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⚙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88720" y="182880"/>
            <a:ext cx="7498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3E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502920"/>
            <a:ext cx="749808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control plane from intent to verified outcome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453896"/>
            <a:ext cx="1947672" cy="3072384"/>
          </a:xfrm>
          <a:prstGeom prst="roundRect">
            <a:avLst>
              <a:gd name="adj" fmla="val 2347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618488"/>
            <a:ext cx="438912" cy="438912"/>
          </a:xfrm>
          <a:prstGeom prst="ellipse">
            <a:avLst/>
          </a:prstGeom>
          <a:solidFill>
            <a:srgbClr val="161F30"/>
          </a:solidFill>
          <a:ln w="19050">
            <a:solidFill>
              <a:srgbClr val="2FE6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6184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1792" y="2167128"/>
            <a:ext cx="1618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1792" y="2569464"/>
            <a:ext cx="1618488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search, symbols, and Git history ground the task before edits begin.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551176" y="1453896"/>
            <a:ext cx="1947672" cy="3072384"/>
          </a:xfrm>
          <a:prstGeom prst="roundRect">
            <a:avLst>
              <a:gd name="adj" fmla="val 2347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15768" y="1618488"/>
            <a:ext cx="438912" cy="438912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15768" y="16184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15768" y="2167128"/>
            <a:ext cx="1618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15768" y="2569464"/>
            <a:ext cx="1618488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mutation is risk-classified, permission-gated, and checkpointed.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45152" y="1453896"/>
            <a:ext cx="1947672" cy="3072384"/>
          </a:xfrm>
          <a:prstGeom prst="roundRect">
            <a:avLst>
              <a:gd name="adj" fmla="val 2347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9744" y="1618488"/>
            <a:ext cx="438912" cy="438912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9744" y="16184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09744" y="2167128"/>
            <a:ext cx="1618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FFB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09744" y="2569464"/>
            <a:ext cx="1618488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Project-native tests and builds outrank the model's own narrative confidence.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739128" y="1453896"/>
            <a:ext cx="1947672" cy="3072384"/>
          </a:xfrm>
          <a:prstGeom prst="roundRect">
            <a:avLst>
              <a:gd name="adj" fmla="val 2347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03720" y="1618488"/>
            <a:ext cx="438912" cy="438912"/>
          </a:xfrm>
          <a:prstGeom prst="ellipse">
            <a:avLst/>
          </a:prstGeom>
          <a:solidFill>
            <a:srgbClr val="161F30"/>
          </a:solidFill>
          <a:ln w="19050">
            <a:solidFill>
              <a:srgbClr val="8B7C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03720" y="16184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7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903720" y="2167128"/>
            <a:ext cx="1618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8B7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03720" y="2569464"/>
            <a:ext cx="1618488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critique, bounded repair, and isolated Best-of-N turn failure into a controlled workflow.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" y="473659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286000" y="47365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A $100M VALUATION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955280" y="47365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3E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MOAT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mechanisms most competitors don't have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53896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657600"/>
                <a:gridCol w="2651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3E0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3E0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3E0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IT'S DEFENSIBLE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V-Cycle runtime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Risk-gate, snapshot, verify, critique, repair, score every mutating turn.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checks outrank the model's own confidence.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Nishant Convergence 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Divergent diagnosis + pairwise adjudication once a repair has failed.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Formalized, unit-tested, versioned — not a loose retry heuristic.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quality 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Structural checks on the rendered file, not the model's self-report.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identically regardless of which model generated the file.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Script-based generation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Node.js scripts replace single-JSON calls past a size threshold.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Solves the 8K-token ceiling that breaks JSON-only generators.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Best-of-N parallel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Isolated Git worktrees, independently verified and ranked.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tasks get real candidate diversity, not one shared attempt.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Local-first governance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Code, evidence, and policy stay on the customer's machine.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mandatory multi-tenant cloud control plane to trust.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3659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2286000" y="47365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A $100M VALUATION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55280" y="47365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3E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BENCHMARK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81/100 — top-tier architecture, proof gap remaining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53896"/>
          <a:ext cx="8229600" cy="30723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3659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2286000" y="47365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A $100M VALUATION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55280" y="47365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3E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market growth trajectory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53896"/>
          <a:ext cx="8229600" cy="27523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33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only — reflects the general growth consensus across public analyst commentary on AI-assisted software development, not a specific cited figure.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57200" y="473659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286000" y="47365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A $100M VALUATION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955280" y="47365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3E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 library of 14 named scoring algorithms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53896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3E0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3E0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3E0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SCORE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NDQI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equity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 — Attractive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Venture capital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 — Strong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equities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72.3 — Attractive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NIMRI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 macro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84.4 — Expansion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Insurance underwriting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79.5 — Standard, bind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NREIS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estate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77.4 — Core-plus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885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of 14 shown — each ships with a full methodology doc and a runnable reference implementation.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473659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286000" y="47365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A $100M VALUATION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955280" y="47365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3E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VELOCITY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Shipped, tested, and verifiable — not a roadmap slide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53896"/>
            <a:ext cx="2621280" cy="3072384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53896"/>
            <a:ext cx="54864" cy="3072384"/>
          </a:xfrm>
          <a:prstGeom prst="rect">
            <a:avLst/>
          </a:prstGeom>
          <a:solidFill>
            <a:srgbClr val="33E0A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437059"/>
            <a:ext cx="23286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3E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PHASES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802819"/>
            <a:ext cx="2328672" cy="172346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verification, checkpoints, MCP, parallel agents, evaluation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61360" y="1453896"/>
            <a:ext cx="2621280" cy="3072384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1360" y="1453896"/>
            <a:ext cx="54864" cy="3072384"/>
          </a:xfrm>
          <a:prstGeom prst="rect">
            <a:avLst/>
          </a:prstGeom>
          <a:solidFill>
            <a:srgbClr val="33E0A8"/>
          </a:solidFill>
          <a:ln/>
        </p:spPr>
      </p:sp>
      <p:sp>
        <p:nvSpPr>
          <p:cNvPr id="10" name="Text 8"/>
          <p:cNvSpPr/>
          <p:nvPr/>
        </p:nvSpPr>
        <p:spPr>
          <a:xfrm>
            <a:off x="3444240" y="2437059"/>
            <a:ext cx="23286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3E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330+ TESTS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44240" y="2802819"/>
            <a:ext cx="2328672" cy="172346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Automated, real execution — not mocked-only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65520" y="1453896"/>
            <a:ext cx="2621280" cy="3072384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65520" y="1453896"/>
            <a:ext cx="54864" cy="3072384"/>
          </a:xfrm>
          <a:prstGeom prst="rect">
            <a:avLst/>
          </a:prstGeom>
          <a:solidFill>
            <a:srgbClr val="33E0A8"/>
          </a:solidFill>
          <a:ln/>
        </p:spPr>
      </p:sp>
      <p:sp>
        <p:nvSpPr>
          <p:cNvPr id="14" name="Text 12"/>
          <p:cNvSpPr/>
          <p:nvPr/>
        </p:nvSpPr>
        <p:spPr>
          <a:xfrm>
            <a:off x="6248400" y="2437059"/>
            <a:ext cx="23286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3E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REGRESSIONS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48400" y="2802819"/>
            <a:ext cx="2328672" cy="172346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every phase's own test suite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473659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286000" y="47365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A $100M VALUATION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955280" y="47365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3E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verified engineering capacity, not another AI seat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53896"/>
            <a:ext cx="8229600" cy="1092689"/>
          </a:xfrm>
          <a:prstGeom prst="roundRect">
            <a:avLst>
              <a:gd name="adj" fmla="val 4184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771640"/>
            <a:ext cx="457200" cy="457200"/>
          </a:xfrm>
          <a:prstGeom prst="ellipse">
            <a:avLst/>
          </a:prstGeom>
          <a:solidFill>
            <a:srgbClr val="161F30"/>
          </a:solidFill>
          <a:ln w="19050">
            <a:solidFill>
              <a:srgbClr val="2FE6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7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80160" y="1543882"/>
            <a:ext cx="7223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280160" y="1775275"/>
            <a:ext cx="7223760" cy="7070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scoped pilot measures accepted-task rate and review-minutes saved against today's baseline — no productivity number is claimed until the pilot establishes it.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636571"/>
            <a:ext cx="8229600" cy="899861"/>
          </a:xfrm>
          <a:prstGeom prst="roundRect">
            <a:avLst>
              <a:gd name="adj" fmla="val 5081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857902"/>
            <a:ext cx="457200" cy="457200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85790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80160" y="2726557"/>
            <a:ext cx="7223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280160" y="2957950"/>
            <a:ext cx="7223760" cy="51420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Team-wide licensing once accepted-task rate and cost-per-verified-outcome are proven on real repositories.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626419"/>
            <a:ext cx="8229600" cy="899861"/>
          </a:xfrm>
          <a:prstGeom prst="roundRect">
            <a:avLst>
              <a:gd name="adj" fmla="val 5081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847749"/>
            <a:ext cx="457200" cy="457200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847749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80160" y="3716405"/>
            <a:ext cx="7223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280160" y="3947798"/>
            <a:ext cx="7223760" cy="51420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policy, evidence, and audit administration — delivered at the customer-controlled runtime, never a mandatory multi-tenant cloud.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473659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286000" y="47365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A $100M VALUATION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955280" y="47365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3E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shipped product to a proven Series A metric set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431036" y="1984248"/>
            <a:ext cx="6281928" cy="0"/>
          </a:xfrm>
          <a:prstGeom prst="line">
            <a:avLst/>
          </a:prstGeom>
          <a:noFill/>
          <a:ln w="19050">
            <a:solidFill>
              <a:srgbClr val="232E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5004" y="1728216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2FE6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75004" y="172821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368296"/>
            <a:ext cx="1947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customers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2697480"/>
            <a:ext cx="194767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Accepted-task rate, review-minutes saved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68980" y="1728216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68980" y="172821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551176" y="2368296"/>
            <a:ext cx="1947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benchmarks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551176" y="2697480"/>
            <a:ext cx="194767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SWE-bench, Terminal-Bench, BFCL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62956" y="1728216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62956" y="172821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45152" y="2368296"/>
            <a:ext cx="1947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features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645152" y="2697480"/>
            <a:ext cx="194767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SSO/RBAC, audit administration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456932" y="1728216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8B7C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56932" y="172821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7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739128" y="2368296"/>
            <a:ext cx="1947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metrics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739128" y="2697480"/>
            <a:ext cx="194767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retention, cost-per-outcome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73659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286000" y="47365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A $100M VALUATION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955280" y="47365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3E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$100M underwriting case is built, not asserted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53896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97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3E0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3E0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RESTS 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3E0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&amp; IP asset value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shipped phases, a working V-Cycle runtime, NCP, and 14 named proprietary scoring algorithms — a tested asset base most seed-stage AI tool companies do not yet have.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Defensible today, independent of revenue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Comparable early-stage financings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reporting on AI developer-tooling and agent-infrastructure rounds shows wide dispersion for pre-revenue, technical-moat companies.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Illustrative range, not a specific quoted deal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Strategic / category value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Cloud, IDE, and dev-tool incumbents are actively acquiring into the AI coding-agent category.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Supports a premium multiple once pilot traction lands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471416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valuation is set by investors, not by a slide deck.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This is the underwriting case Wrexlyn's technical position supports — the next milestone is customer pilot data and published benchmark results.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457200" y="473659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286000" y="47365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A $100M VALUATION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955280" y="47365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3E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allocation — what the raise unlocks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53896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5303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3E0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ALLOCATION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3E0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FUNDS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&amp; benchmarking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Sandboxed execution, published SWE-bench/Terminal-Bench runs, prose-quality scoring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features &amp; GTM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SSO/RBAC, audit administration, pilot program delivery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&amp; operations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Founding engineering and go-to-market hires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3659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2286000" y="47365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A $100M VALUATION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55280" y="47365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66928" cy="566928"/>
          </a:xfrm>
          <a:prstGeom prst="ellipse">
            <a:avLst/>
          </a:prstGeom>
          <a:solidFill>
            <a:srgbClr val="33E0A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💡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88720" y="182880"/>
            <a:ext cx="7498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3E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502920"/>
            <a:ext cx="749808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this bet depends on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453896"/>
            <a:ext cx="8229600" cy="3072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capability is commoditizing fast.</a:t>
            </a:r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durable value is shifting to the layer that governs, verifies, and recovers around whichever model wins any given month.</a:t>
            </a:r>
            <a:endParaRPr lang="en-US" sz="15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governance demand is rising.</a:t>
            </a:r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Engineering leaders want less review debt and safer delegation, not another chat window.</a:t>
            </a:r>
            <a:endParaRPr lang="en-US" sz="15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 and data-residency requirements are hardening.</a:t>
            </a:r>
            <a:pPr indent="0" marL="0">
              <a:lnSpc>
                <a:spcPct val="135000"/>
              </a:lnSpc>
              <a:spcAft>
                <a:spcPts val="1000"/>
              </a:spcAft>
              <a:buNone/>
            </a:pPr>
            <a:r>
              <a:rPr lang="en-US" sz="15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mandatory multi-tenant cloud is increasingly a sales blocker, not a feature.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457200" y="473659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286000" y="47365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A $100M VALUATION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955280" y="47365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3E0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55448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0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be trusted with real work,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0A0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impressive in a demo.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3291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A0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Nishant Prabhakar  ·  github.com/nishantsprabhakar/codingagent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2026-08-20T06:13:21Z</dcterms:created>
  <dcterms:modified xsi:type="dcterms:W3CDTF">2026-08-20T06:13:21Z</dcterms:modified>
</cp:coreProperties>
</file>