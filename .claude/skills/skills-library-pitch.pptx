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D4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Financial Performance (25%)</c:v>
                  </c:pt>
                  <c:pt idx="1">
                    <c:v>Valuation &amp; Terms (20%)</c:v>
                  </c:pt>
                  <c:pt idx="2">
                    <c:v>Market Position (20%)</c:v>
                  </c:pt>
                  <c:pt idx="3">
                    <c:v>Management &amp; Governance (15%)</c:v>
                  </c:pt>
                  <c:pt idx="4">
                    <c:v>Growth &amp; Exit (10%)</c:v>
                  </c:pt>
                  <c:pt idx="5">
                    <c:v>Risk Factors (10%)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</c:v>
                </c:pt>
                <c:pt idx="1">
                  <c:v>68.4</c:v>
                </c:pt>
                <c:pt idx="2">
                  <c:v>67.7</c:v>
                </c:pt>
                <c:pt idx="3">
                  <c:v>75</c:v>
                </c:pt>
                <c:pt idx="4">
                  <c:v>74</c:v>
                </c:pt>
                <c:pt idx="5">
                  <c:v>100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459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D4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Founder &amp; Team Quality (25%)</c:v>
                  </c:pt>
                  <c:pt idx="1">
                    <c:v>Market Opportunity (20%)</c:v>
                  </c:pt>
                  <c:pt idx="2">
                    <c:v>Traction &amp; PMF Signals (20%)</c:v>
                  </c:pt>
                  <c:pt idx="3">
                    <c:v>Product Differentiation (15%)</c:v>
                  </c:pt>
                  <c:pt idx="4">
                    <c:v>Unit Economics Trajectory (10%)</c:v>
                  </c:pt>
                  <c:pt idx="5">
                    <c:v>Round Terms &amp; Dilution (10%)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83.4</c:v>
                </c:pt>
                <c:pt idx="2">
                  <c:v>71.8</c:v>
                </c:pt>
                <c:pt idx="3">
                  <c:v>60</c:v>
                </c:pt>
                <c:pt idx="4">
                  <c:v>80.5</c:v>
                </c:pt>
                <c:pt idx="5">
                  <c:v>72.3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459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D4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Capacity Utilization (25%)</c:v>
                  </c:pt>
                  <c:pt idx="1">
                    <c:v>Cost Efficiency (20%)</c:v>
                  </c:pt>
                  <c:pt idx="2">
                    <c:v>Service Reliability (20%)</c:v>
                  </c:pt>
                  <c:pt idx="3">
                    <c:v>Empty-Mile Ratio (15%)</c:v>
                  </c:pt>
                  <c:pt idx="4">
                    <c:v>Network Density (10%)</c:v>
                  </c:pt>
                  <c:pt idx="5">
                    <c:v>Sustainability (10%)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</c:v>
                </c:pt>
                <c:pt idx="1">
                  <c:v>47.6</c:v>
                </c:pt>
                <c:pt idx="2">
                  <c:v>73.8</c:v>
                </c:pt>
                <c:pt idx="3">
                  <c:v>60</c:v>
                </c:pt>
                <c:pt idx="4">
                  <c:v>66.7</c:v>
                </c:pt>
                <c:pt idx="5">
                  <c:v>73.5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459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D4AF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PIMRI</c:v>
                  </c:pt>
                  <c:pt idx="1">
                    <c:v>PREIS</c:v>
                  </c:pt>
                  <c:pt idx="2">
                    <c:v>PSTS</c:v>
                  </c:pt>
                  <c:pt idx="3">
                    <c:v>PDQI</c:v>
                  </c:pt>
                  <c:pt idx="4">
                    <c:v>PESS</c:v>
                  </c:pt>
                  <c:pt idx="5">
                    <c:v>PCRS</c:v>
                  </c:pt>
                  <c:pt idx="6">
                    <c:v>PLNES</c:v>
                  </c:pt>
                  <c:pt idx="7">
                    <c:v>PAVS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84.4</c:v>
                </c:pt>
                <c:pt idx="1">
                  <c:v>77.4</c:v>
                </c:pt>
                <c:pt idx="2">
                  <c:v>75.3</c:v>
                </c:pt>
                <c:pt idx="3">
                  <c:v>74.1</c:v>
                </c:pt>
                <c:pt idx="4">
                  <c:v>72.3</c:v>
                </c:pt>
                <c:pt idx="5">
                  <c:v>70</c:v>
                </c:pt>
                <c:pt idx="6">
                  <c:v>64.8</c:v>
                </c:pt>
                <c:pt idx="7">
                  <c:v>64.2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3A4590"/>
            </a:solidFill>
            <a:prstDash val="solid"/>
            <a:round/>
          </a:ln>
        </c:spPr>
        <c:txPr>
          <a:bodyPr/>
          <a:lstStyle/>
          <a:p>
            <a:pPr>
              <a:defRPr sz="1300" b="1" i="0" u="none" strike="noStrike">
                <a:solidFill>
                  <a:srgbClr val="CADCF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761"/>
        </a:solidFill>
        <a:ln>
          <a:noFill/>
        </a:ln>
        <a:effectLst/>
      </c:spPr>
    </c:plotArea>
    <c:plotVisOnly val="1"/>
    <c:dispBlanksAs val="span"/>
  </c:chart>
  <c:spPr>
    <a:solidFill>
      <a:srgbClr val="1E276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SKILLS LIBRARY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9184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proprietary, named decision algorithms for investment,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and macro analysis — auditable like a factor score,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gut check.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NISHANT PRABHAKAR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3202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3202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5498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498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794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794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0090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090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2386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386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682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682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6978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978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92744" y="5806440"/>
            <a:ext cx="566928" cy="566928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92744" y="5806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PDQI · PSTS · PESS · PCRS · PREIS · PAVS · PIMRI · PLNES/PCH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Analyst judgment doesn't scale — or survive turnover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283374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" y="239572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drift silently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50976" y="2880360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deal reviewed by two analysts, or by one analyst twice six months apart, produces two different numbers — with no record of why.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283374"/>
          </a:solidFill>
          <a:ln/>
        </p:spPr>
      </p:sp>
      <p:sp>
        <p:nvSpPr>
          <p:cNvPr id="8" name="Text 6"/>
          <p:cNvSpPr/>
          <p:nvPr/>
        </p:nvSpPr>
        <p:spPr>
          <a:xfrm>
            <a:off x="6620256" y="239572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“Gut calls” aren’t auditable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0256" y="2880360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score is challenged, there's no formula to point to — just a memory of what felt right at the time.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283374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4498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leaves with the analyst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50976" y="4983480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pattern-recognition walks out the door at every departure, with nothing written down to replace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42062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283374"/>
          </a:solidFill>
          <a:ln/>
        </p:spPr>
      </p:sp>
      <p:sp>
        <p:nvSpPr>
          <p:cNvPr id="14" name="Text 12"/>
          <p:cNvSpPr/>
          <p:nvPr/>
        </p:nvSpPr>
        <p:spPr>
          <a:xfrm>
            <a:off x="6620256" y="4498848"/>
            <a:ext cx="4590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gets papered over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0256" y="4983480"/>
            <a:ext cx="45902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Ad-hoc analysis quietly fills gaps with plausible defaults instead of flagging what's actually unknown.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Named, versioned, auditable — like Altman Z-Score, not a gut check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94360" cy="59436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guessing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196596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inputs get flagged and degrade a confidence rating — they never get quietly defaulted to a plausible-looking value.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94360" cy="59436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71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9260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Auditable, not black-box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52160" y="29260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sub-score traces to a named formula against a named input. Anyone can check the arithmetic.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94360" cy="59436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3886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52160" y="38862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weight or formula is a version bump with a changelog entry — not a silent tweak that breaks comparability over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94360" cy="59436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892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46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and doc never drift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48463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algorithm's methodology doc and its reference implementation are edited together, in the same change, always.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algorithms, eight sectors, one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075688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69748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PDQI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044952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/ Growth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3602736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74.1 · Attractive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6252" y="1874520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11" name="Shape 9"/>
          <p:cNvSpPr/>
          <p:nvPr/>
        </p:nvSpPr>
        <p:spPr>
          <a:xfrm>
            <a:off x="3587420" y="2075688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742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87420" y="269748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87420" y="3044952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Capital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7420" y="3602736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75.3 · Strong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23864" y="1874520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17" name="Shape 15"/>
          <p:cNvSpPr/>
          <p:nvPr/>
        </p:nvSpPr>
        <p:spPr>
          <a:xfrm>
            <a:off x="6425032" y="2075688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503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5032" y="269748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25032" y="3044952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Equities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5032" y="3602736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72.3 · Attractive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61475" y="1874520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23" name="Shape 21"/>
          <p:cNvSpPr/>
          <p:nvPr/>
        </p:nvSpPr>
        <p:spPr>
          <a:xfrm>
            <a:off x="9262643" y="2075688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643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262643" y="2697480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62643" y="3044952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Credit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62643" y="3602736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 · BB/B High Yield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42816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" y="4443984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9808" y="5065776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9808" y="5413248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Real Estate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49808" y="5971032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 · Core-plus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86252" y="4242816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35" name="Shape 33"/>
          <p:cNvSpPr/>
          <p:nvPr/>
        </p:nvSpPr>
        <p:spPr>
          <a:xfrm>
            <a:off x="3587420" y="4443984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87420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87420" y="5065776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587420" y="5413248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Discovery / Biotech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87420" y="5971032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64.2 · Monitor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23864" y="4242816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41" name="Shape 39"/>
          <p:cNvSpPr/>
          <p:nvPr/>
        </p:nvSpPr>
        <p:spPr>
          <a:xfrm>
            <a:off x="6425032" y="4443984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5032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25032" y="5065776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PIMRI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25032" y="5413248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Macro Regime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25032" y="5971032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 · Expansion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061475" y="4242816"/>
            <a:ext cx="2581580" cy="2112264"/>
          </a:xfrm>
          <a:prstGeom prst="roundRect">
            <a:avLst>
              <a:gd name="adj" fmla="val 3896"/>
            </a:avLst>
          </a:prstGeom>
          <a:solidFill>
            <a:srgbClr val="283374"/>
          </a:solidFill>
          <a:ln/>
        </p:spPr>
      </p:sp>
      <p:sp>
        <p:nvSpPr>
          <p:cNvPr id="47" name="Shape 45"/>
          <p:cNvSpPr/>
          <p:nvPr/>
        </p:nvSpPr>
        <p:spPr>
          <a:xfrm>
            <a:off x="9262643" y="4443984"/>
            <a:ext cx="502920" cy="50292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62643" y="4443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262643" y="5065776"/>
            <a:ext cx="217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PLNES / PCH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9262643" y="5413248"/>
            <a:ext cx="21792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Network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262643" y="5971032"/>
            <a:ext cx="21792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 · Adequate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77240" cy="77724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347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PDQI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Prabhakar Deal Quality Index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00200" y="1225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/ growth-investment deal screening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19456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2194560"/>
            <a:ext cx="4434840" cy="3931920"/>
          </a:xfrm>
          <a:prstGeom prst="roundRect">
            <a:avLst>
              <a:gd name="adj" fmla="val 2093"/>
            </a:avLst>
          </a:prstGeom>
          <a:solidFill>
            <a:srgbClr val="283374"/>
          </a:solidFill>
          <a:ln/>
        </p:spPr>
      </p:sp>
      <p:sp>
        <p:nvSpPr>
          <p:cNvPr id="11" name="Text 8"/>
          <p:cNvSpPr/>
          <p:nvPr/>
        </p:nvSpPr>
        <p:spPr>
          <a:xfrm>
            <a:off x="74066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TAKE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06640" y="2715768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financials and clean risk profile; entry multiple and structural protections are the pillars most worth negotiating before close.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0664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404164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— no red flags found in customer concentration, key-person, or related-party checks.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Terms: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68.4 — entry multiple sits above sector median; the main lever for a higher score.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06640" y="5669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weighted pillars → one auditable score, every time it's quoted.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77240" cy="77724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347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Prabhakar Startup Traction Score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00200" y="1225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proceed to diligence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pre-revenue sibling of PDQI — built because PDQI's financial-trajectory pillar misscores companies with no revenue history yet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19456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178040" y="2194560"/>
            <a:ext cx="4434840" cy="3931920"/>
          </a:xfrm>
          <a:prstGeom prst="roundRect">
            <a:avLst>
              <a:gd name="adj" fmla="val 2093"/>
            </a:avLst>
          </a:prstGeom>
          <a:solidFill>
            <a:srgbClr val="283374"/>
          </a:solidFill>
          <a:ln/>
        </p:spPr>
      </p:sp>
      <p:sp>
        <p:nvSpPr>
          <p:cNvPr id="11" name="Text 8"/>
          <p:cNvSpPr/>
          <p:nvPr/>
        </p:nvSpPr>
        <p:spPr>
          <a:xfrm>
            <a:off x="7406640" y="2423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06640" y="2715768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unit economics genuinely don't exist yet (true pre-revenue), that pillar excludes itself from the completeness denominator entirely and scores a neutral 60 — it doesn't penalize a company for a stage it hasn't reached.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0664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 IT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427024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 — large TAM with credible “why now” timing.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Differentiation: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— the softest pillar; defensibility is the open diligence question.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77240" cy="77724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347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PIMRI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Prabhakar India Macro Regime Index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00200" y="1225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/ Goldilocks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India's macro cycle into a named regime with an asset-allocation tilt — not just a number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7680960" cy="365760"/>
          </a:xfrm>
          <a:prstGeom prst="roundRect">
            <a:avLst>
              <a:gd name="adj" fmla="val 12500"/>
            </a:avLst>
          </a:prstGeom>
          <a:solidFill>
            <a:srgbClr val="141B4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194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0" y="2194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09160" y="219456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0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7680960" cy="566928"/>
          </a:xfrm>
          <a:prstGeom prst="rect">
            <a:avLst/>
          </a:prstGeom>
          <a:solidFill>
            <a:srgbClr val="28337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5603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Momentum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25603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09160" y="256032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70.4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0" y="256032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vs. trend, IIP YoY, composite PMI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85800" y="31272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&amp; Monetary Stance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31920" y="312724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12724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0" y="3127248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vs. RBI's 4%±2% target, real repo rate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694176"/>
            <a:ext cx="7680960" cy="566928"/>
          </a:xfrm>
          <a:prstGeom prst="rect">
            <a:avLst/>
          </a:prstGeom>
          <a:solidFill>
            <a:srgbClr val="28337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941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Sector Health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0" y="369417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694176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0" y="36941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account, FX reserve adequacy, INR volatility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42611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Health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931920" y="426110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9160" y="4261104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0" y="426110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Deficit vs. target, capex-quality adjustment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8640" y="4828032"/>
            <a:ext cx="7680960" cy="566928"/>
          </a:xfrm>
          <a:prstGeom prst="rect">
            <a:avLst/>
          </a:prstGeom>
          <a:solidFill>
            <a:srgbClr val="283374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482803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&amp; Liquidity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931920" y="482803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482803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0" y="48280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growth, systemic liquidity stance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85800" y="53949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Flows &amp; Confidence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931920" y="539496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539496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0" y="53949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FPI/FDI flows, sovereign risk premium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58200" y="2194560"/>
            <a:ext cx="3154680" cy="3886200"/>
          </a:xfrm>
          <a:prstGeom prst="roundRect">
            <a:avLst>
              <a:gd name="adj" fmla="val 2609"/>
            </a:avLst>
          </a:prstGeom>
          <a:solidFill>
            <a:srgbClr val="283374"/>
          </a:solidFill>
          <a:ln/>
        </p:spPr>
      </p:sp>
      <p:sp>
        <p:nvSpPr>
          <p:cNvPr id="42" name="Text 40"/>
          <p:cNvSpPr/>
          <p:nvPr/>
        </p:nvSpPr>
        <p:spPr>
          <a:xfrm>
            <a:off x="8686800" y="2423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ASSET-ALLOCATION TILT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0" y="27432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equities. Tilt toward cyclicals and small/mid-caps. Risk-on across the book.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86800" y="5257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regime label + tilt is more actionable to a portfolio committee than a bare index number — that's the point of naming it, not just scoring it.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84048"/>
            <a:ext cx="777240" cy="77724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0200" y="3474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PLNES + PCH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749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Prabhakar Logistics Network Efficiency Score + Consolidation Heuristic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600200" y="12252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64.8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108960" y="1280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(diagnostic)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related tools: a network-health diagnostic, and a route-consolidation heuristic that actually re-plans shipments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19456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583680" y="2194560"/>
            <a:ext cx="5029200" cy="3931920"/>
          </a:xfrm>
          <a:prstGeom prst="roundRect">
            <a:avLst>
              <a:gd name="adj" fmla="val 2093"/>
            </a:avLst>
          </a:prstGeom>
          <a:solidFill>
            <a:srgbClr val="283374"/>
          </a:solidFill>
          <a:ln/>
        </p:spPr>
      </p:sp>
      <p:sp>
        <p:nvSpPr>
          <p:cNvPr id="11" name="Text 8"/>
          <p:cNvSpPr/>
          <p:nvPr/>
        </p:nvSpPr>
        <p:spPr>
          <a:xfrm>
            <a:off x="681228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 — A ROUTE CONSOLIDATION RUN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267919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Clarke-Wright savings backbone (Clarke &amp; Wright, 1964) + a proprietary priority-weighting overlay for customer tier, SLA urgency, and carbon impact.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1228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812280" y="3950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km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7532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778240" y="3383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41.8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778240" y="39502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km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241280" y="33832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40.3%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0241280" y="3950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122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ROUTES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812280" y="47274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→ A → E → depot   —   18.94 km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 → B → D → C → depot   —   22.83 km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81228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Priority-weighting pulled the B–D merge (premium tier, tight SLA) ahead of pairs with higher raw distance savings — the routes reflect urgency, not just geography.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eight, at a glance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POSTURE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secret today — patent-eligibility is a separate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28337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SECRET — APPLIES 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applies automatically, simply by being original, non-public, and treated as confidential. That's the primary protection this whole library is written to support — every algorithm is named, versioned, and specified precisely enough to be defensible as original work product.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283374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21488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ELIGIBILITY — A HARDER BAR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56032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/ Mayo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framework, abstract algorithms and business methods generally fail US patent-eligibility review unless tied to a specific technical improvement — not just “a new way to weight financial ratios.”
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(logistics route consolidation) is the strongest candidate here — a concrete computational method with a measurable output. The pure scoring models are trade secrets first.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“Patentable” in this library means specified with enough novelty and precision to be a serious patent-counsel conversation — not “patented,” and not a guarantee. Filing requires counsel.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library, not a one-off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shares one structure — SKILL.md, a methodology doc, and a runnable reference script — so extending into a new niche means re-deriving pillar weights against that niche's real drivers, not inventing a new framework from scratch.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606040"/>
            <a:ext cx="457200" cy="45720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2606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SKILL.md first — front-load the description with real trigger phrases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457200" cy="45720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algorithm in reference/algorithm.md before writing any code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scripts/score.js as a literal, checkable implementation — never hand-computed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457200" cy="457200"/>
          </a:xfrm>
          <a:prstGeom prst="ellipse">
            <a:avLst/>
          </a:prstGeom>
          <a:solidFill>
            <a:srgbClr val="141B45"/>
          </a:solidFill>
          <a:ln w="15875">
            <a:solidFill>
              <a:srgbClr val="D4AF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3040" y="4937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row to the library index — a score means the same thing to anyone, a year from now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NISHANT PRABHAKAR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LIBRARY  ·  NISHANT PRABHAKAR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2026-08-10T07:19:22Z</dcterms:created>
  <dcterms:modified xsi:type="dcterms:W3CDTF">2026-08-10T07:19:22Z</dcterms:modified>
</cp:coreProperties>
</file>