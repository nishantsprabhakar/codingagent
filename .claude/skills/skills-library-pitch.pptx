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D4AF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Financial Performance (25%)</c:v>
                  </c:pt>
                  <c:pt idx="1">
                    <c:v>Valuation &amp; Terms (20%)</c:v>
                  </c:pt>
                  <c:pt idx="2">
                    <c:v>Market Position (20%)</c:v>
                  </c:pt>
                  <c:pt idx="3">
                    <c:v>Management &amp; Governance (15%)</c:v>
                  </c:pt>
                  <c:pt idx="4">
                    <c:v>Growth &amp; Exit (10%)</c:v>
                  </c:pt>
                  <c:pt idx="5">
                    <c:v>Risk Factors (10%)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73</c:v>
                </c:pt>
                <c:pt idx="1">
                  <c:v>68.4</c:v>
                </c:pt>
                <c:pt idx="2">
                  <c:v>67.7</c:v>
                </c:pt>
                <c:pt idx="3">
                  <c:v>75</c:v>
                </c:pt>
                <c:pt idx="4">
                  <c:v>74</c:v>
                </c:pt>
                <c:pt idx="5">
                  <c:v>100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3A459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ADCF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2761"/>
        </a:solidFill>
        <a:ln>
          <a:noFill/>
        </a:ln>
        <a:effectLst/>
      </c:spPr>
    </c:plotArea>
    <c:plotVisOnly val="1"/>
    <c:dispBlanksAs val="span"/>
  </c:chart>
  <c:spPr>
    <a:solidFill>
      <a:srgbClr val="1E2761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D4AF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Founder &amp; Team Quality (25%)</c:v>
                  </c:pt>
                  <c:pt idx="1">
                    <c:v>Market Opportunity (20%)</c:v>
                  </c:pt>
                  <c:pt idx="2">
                    <c:v>Traction &amp; PMF Signals (20%)</c:v>
                  </c:pt>
                  <c:pt idx="3">
                    <c:v>Product Differentiation (15%)</c:v>
                  </c:pt>
                  <c:pt idx="4">
                    <c:v>Unit Economics Trajectory (10%)</c:v>
                  </c:pt>
                  <c:pt idx="5">
                    <c:v>Round Terms &amp; Dilution (10%)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</c:v>
                </c:pt>
                <c:pt idx="1">
                  <c:v>83.4</c:v>
                </c:pt>
                <c:pt idx="2">
                  <c:v>71.8</c:v>
                </c:pt>
                <c:pt idx="3">
                  <c:v>60</c:v>
                </c:pt>
                <c:pt idx="4">
                  <c:v>80.5</c:v>
                </c:pt>
                <c:pt idx="5">
                  <c:v>72.3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3A459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ADCF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2761"/>
        </a:solidFill>
        <a:ln>
          <a:noFill/>
        </a:ln>
        <a:effectLst/>
      </c:spPr>
    </c:plotArea>
    <c:plotVisOnly val="1"/>
    <c:dispBlanksAs val="span"/>
  </c:chart>
  <c:spPr>
    <a:solidFill>
      <a:srgbClr val="1E2761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D4AF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Capacity Utilization (25%)</c:v>
                  </c:pt>
                  <c:pt idx="1">
                    <c:v>Cost Efficiency (20%)</c:v>
                  </c:pt>
                  <c:pt idx="2">
                    <c:v>Service Reliability (20%)</c:v>
                  </c:pt>
                  <c:pt idx="3">
                    <c:v>Empty-Mile Ratio (15%)</c:v>
                  </c:pt>
                  <c:pt idx="4">
                    <c:v>Network Density (10%)</c:v>
                  </c:pt>
                  <c:pt idx="5">
                    <c:v>Sustainability (10%)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</c:v>
                </c:pt>
                <c:pt idx="1">
                  <c:v>47.6</c:v>
                </c:pt>
                <c:pt idx="2">
                  <c:v>73.8</c:v>
                </c:pt>
                <c:pt idx="3">
                  <c:v>60</c:v>
                </c:pt>
                <c:pt idx="4">
                  <c:v>66.7</c:v>
                </c:pt>
                <c:pt idx="5">
                  <c:v>73.5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3A459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ADCF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2761"/>
        </a:solidFill>
        <a:ln>
          <a:noFill/>
        </a:ln>
        <a:effectLst/>
      </c:spPr>
    </c:plotArea>
    <c:plotVisOnly val="1"/>
    <c:dispBlanksAs val="span"/>
  </c:chart>
  <c:spPr>
    <a:solidFill>
      <a:srgbClr val="1E2761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D4AF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NIMRI</c:v>
                  </c:pt>
                  <c:pt idx="1">
                    <c:v>NREIS</c:v>
                  </c:pt>
                  <c:pt idx="2">
                    <c:v>NSTS</c:v>
                  </c:pt>
                  <c:pt idx="3">
                    <c:v>NDQI</c:v>
                  </c:pt>
                  <c:pt idx="4">
                    <c:v>NESS</c:v>
                  </c:pt>
                  <c:pt idx="5">
                    <c:v>NCRS</c:v>
                  </c:pt>
                  <c:pt idx="6">
                    <c:v>NLNES</c:v>
                  </c:pt>
                  <c:pt idx="7">
                    <c:v>NAVS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84.4</c:v>
                </c:pt>
                <c:pt idx="1">
                  <c:v>77.4</c:v>
                </c:pt>
                <c:pt idx="2">
                  <c:v>75.3</c:v>
                </c:pt>
                <c:pt idx="3">
                  <c:v>74.1</c:v>
                </c:pt>
                <c:pt idx="4">
                  <c:v>72.3</c:v>
                </c:pt>
                <c:pt idx="5">
                  <c:v>70</c:v>
                </c:pt>
                <c:pt idx="6">
                  <c:v>64.8</c:v>
                </c:pt>
                <c:pt idx="7">
                  <c:v>64.2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3A4590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CADCF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2761"/>
        </a:solidFill>
        <a:ln>
          <a:noFill/>
        </a:ln>
        <a:effectLst/>
      </c:spPr>
    </c:plotArea>
    <c:plotVisOnly val="1"/>
    <c:dispBlanksAs val="span"/>
  </c:chart>
  <c:spPr>
    <a:solidFill>
      <a:srgbClr val="1E2761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SKILLS LIBRARY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9326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proprietary, named decision algorithms for investment,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operational, and macro analysis — auditable like a factor score,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gut check.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4617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BY NISHANT PRABHAKAR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932024" y="5806440"/>
            <a:ext cx="566928" cy="56692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32024" y="5806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754984" y="5806440"/>
            <a:ext cx="566928" cy="56692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54984" y="5806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7944" y="5806440"/>
            <a:ext cx="566928" cy="56692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7944" y="5806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00904" y="5806440"/>
            <a:ext cx="566928" cy="56692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00904" y="5806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23864" y="5806440"/>
            <a:ext cx="566928" cy="56692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3864" y="5806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46824" y="5806440"/>
            <a:ext cx="566928" cy="56692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6824" y="5806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69784" y="5806440"/>
            <a:ext cx="566928" cy="56692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9784" y="5806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692744" y="5806440"/>
            <a:ext cx="566928" cy="56692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92744" y="5806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NDQI · NSTS · NESS · NCRS · NREIS · NAVS · NIMRI · NLNES/NCH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Analyst judgment doesn't scale — or survive turnover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12080" cy="1828800"/>
          </a:xfrm>
          <a:prstGeom prst="roundRect">
            <a:avLst>
              <a:gd name="adj" fmla="val 4000"/>
            </a:avLst>
          </a:prstGeom>
          <a:solidFill>
            <a:srgbClr val="283374"/>
          </a:solidFill>
          <a:ln/>
        </p:spPr>
      </p:sp>
      <p:sp>
        <p:nvSpPr>
          <p:cNvPr id="5" name="Text 3"/>
          <p:cNvSpPr/>
          <p:nvPr/>
        </p:nvSpPr>
        <p:spPr>
          <a:xfrm>
            <a:off x="950976" y="2395728"/>
            <a:ext cx="4590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drift silently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50976" y="2880360"/>
            <a:ext cx="4590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deal reviewed by two analysts, or by one analyst twice six months apart, produces two different numbers — with no record of why.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2103120"/>
            <a:ext cx="5212080" cy="1828800"/>
          </a:xfrm>
          <a:prstGeom prst="roundRect">
            <a:avLst>
              <a:gd name="adj" fmla="val 4000"/>
            </a:avLst>
          </a:prstGeom>
          <a:solidFill>
            <a:srgbClr val="283374"/>
          </a:solidFill>
          <a:ln/>
        </p:spPr>
      </p:sp>
      <p:sp>
        <p:nvSpPr>
          <p:cNvPr id="8" name="Text 6"/>
          <p:cNvSpPr/>
          <p:nvPr/>
        </p:nvSpPr>
        <p:spPr>
          <a:xfrm>
            <a:off x="6620256" y="2395728"/>
            <a:ext cx="4590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“Gut calls” aren’t auditable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20256" y="2880360"/>
            <a:ext cx="4590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score is challenged, there's no formula to point to — just a memory of what felt right at the time.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5212080" cy="1828800"/>
          </a:xfrm>
          <a:prstGeom prst="roundRect">
            <a:avLst>
              <a:gd name="adj" fmla="val 4000"/>
            </a:avLst>
          </a:prstGeom>
          <a:solidFill>
            <a:srgbClr val="283374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4498848"/>
            <a:ext cx="4590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Judgment leaves with the analyst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50976" y="4983480"/>
            <a:ext cx="4590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pattern-recognition walks out the door at every departure, with nothing written down to replace it.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4206240"/>
            <a:ext cx="5212080" cy="1828800"/>
          </a:xfrm>
          <a:prstGeom prst="roundRect">
            <a:avLst>
              <a:gd name="adj" fmla="val 4000"/>
            </a:avLst>
          </a:prstGeom>
          <a:solidFill>
            <a:srgbClr val="283374"/>
          </a:solidFill>
          <a:ln/>
        </p:spPr>
      </p:sp>
      <p:sp>
        <p:nvSpPr>
          <p:cNvPr id="14" name="Text 12"/>
          <p:cNvSpPr/>
          <p:nvPr/>
        </p:nvSpPr>
        <p:spPr>
          <a:xfrm>
            <a:off x="6620256" y="4498848"/>
            <a:ext cx="4590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data gets papered over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620256" y="4983480"/>
            <a:ext cx="4590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analysis quietly fills gaps with plausible defaults instead of flagging what's actually unknown.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Named, versioned, auditable — like Altman Z-Score, not a gut check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94360" cy="59436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08760" y="19659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silent guessing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52160" y="196596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inputs get flagged and degrade a confidence rating — they never get quietly defaulted to a plausible-looking value.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594360" cy="59436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971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08760" y="29260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Auditable, not black-box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852160" y="292608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sub-score traces to a named formula against a named input. Anyone can check the arithmetic.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594360" cy="59436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508760" y="388620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852160" y="388620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a weight or formula is a version bump with a changelog entry — not a silent tweak that breaks comparability over time.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892040"/>
            <a:ext cx="594360" cy="59436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892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484632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and doc never drift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852160" y="484632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algorithm's methodology doc and its reference implementation are edited together, in the same change, always.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algorithms, eight sectors, one methodology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2075688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269748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NDQI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3044952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Equity / Growth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3602736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74.1 · Attractive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86252" y="1874520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11" name="Shape 9"/>
          <p:cNvSpPr/>
          <p:nvPr/>
        </p:nvSpPr>
        <p:spPr>
          <a:xfrm>
            <a:off x="3587420" y="2075688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7420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87420" y="269748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87420" y="3044952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Venture Capital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87420" y="3602736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75.3 · Strong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23864" y="1874520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17" name="Shape 15"/>
          <p:cNvSpPr/>
          <p:nvPr/>
        </p:nvSpPr>
        <p:spPr>
          <a:xfrm>
            <a:off x="6425032" y="2075688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25032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25032" y="269748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25032" y="3044952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Equities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25032" y="3602736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72.3 · Attractive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061475" y="1874520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23" name="Shape 21"/>
          <p:cNvSpPr/>
          <p:nvPr/>
        </p:nvSpPr>
        <p:spPr>
          <a:xfrm>
            <a:off x="9262643" y="2075688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62643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262643" y="269748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NCRS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262643" y="3044952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Credit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62643" y="3602736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70.0 · BB/B High Yield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4242816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" y="4443984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49808" y="5065776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NREIS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49808" y="5413248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Real Estate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49808" y="5971032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77.4 · Core-plus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386252" y="4242816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35" name="Shape 33"/>
          <p:cNvSpPr/>
          <p:nvPr/>
        </p:nvSpPr>
        <p:spPr>
          <a:xfrm>
            <a:off x="3587420" y="4443984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8742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587420" y="5065776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3587420" y="5413248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Discovery / Biotech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587420" y="5971032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64.2 · Monitor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223864" y="4242816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41" name="Shape 39"/>
          <p:cNvSpPr/>
          <p:nvPr/>
        </p:nvSpPr>
        <p:spPr>
          <a:xfrm>
            <a:off x="6425032" y="4443984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25032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425032" y="5065776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NIMRI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425032" y="5413248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Macro Regime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425032" y="5971032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84.4 · Expansion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9061475" y="4242816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47" name="Shape 45"/>
          <p:cNvSpPr/>
          <p:nvPr/>
        </p:nvSpPr>
        <p:spPr>
          <a:xfrm>
            <a:off x="9262643" y="4443984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262643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9262643" y="5065776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NLNES / NCH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9262643" y="5413248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Network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262643" y="5971032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64.8 · Adequate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777240" cy="77724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00200" y="34747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NDQI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00200" y="7498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Nishant Deal Quality Index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600200" y="12252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74.1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108960" y="128016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Attractive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equity / growth-investment deal screening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2194560"/>
          <a:ext cx="63093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7178040" y="2194560"/>
            <a:ext cx="4434840" cy="3931920"/>
          </a:xfrm>
          <a:prstGeom prst="roundRect">
            <a:avLst>
              <a:gd name="adj" fmla="val 2093"/>
            </a:avLst>
          </a:prstGeom>
          <a:solidFill>
            <a:srgbClr val="283374"/>
          </a:solidFill>
          <a:ln/>
        </p:spPr>
      </p:sp>
      <p:sp>
        <p:nvSpPr>
          <p:cNvPr id="11" name="Text 8"/>
          <p:cNvSpPr/>
          <p:nvPr/>
        </p:nvSpPr>
        <p:spPr>
          <a:xfrm>
            <a:off x="7406640" y="2423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TAKE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06640" y="271576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financials and clean risk profile; entry multiple and structural protections are the pillars most worth negotiating before close.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406640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 IT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06640" y="4041648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— no red flags found in customer concentration, key-person, or related-party checks.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&amp; Terms: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68.4 — entry multiple sits above sector median; the main lever for a higher score.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406640" y="56692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weighted pillars → one auditable score, every time it's quoted.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777240" cy="77724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00200" y="34747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NSTS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00200" y="7498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Nishant Startup Traction Score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600200" y="12252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75.3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108960" y="128016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— proceed to diligence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pre-revenue sibling of NDQI — built because NDQI's financial-trajectory pillar misscores companies with no revenue history yet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2194560"/>
          <a:ext cx="63093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7178040" y="2194560"/>
            <a:ext cx="4434840" cy="3931920"/>
          </a:xfrm>
          <a:prstGeom prst="roundRect">
            <a:avLst>
              <a:gd name="adj" fmla="val 2093"/>
            </a:avLst>
          </a:prstGeom>
          <a:solidFill>
            <a:srgbClr val="283374"/>
          </a:solidFill>
          <a:ln/>
        </p:spPr>
      </p:sp>
      <p:sp>
        <p:nvSpPr>
          <p:cNvPr id="11" name="Text 8"/>
          <p:cNvSpPr/>
          <p:nvPr/>
        </p:nvSpPr>
        <p:spPr>
          <a:xfrm>
            <a:off x="7406640" y="2423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DEGRADATION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06640" y="2715768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unit economics genuinely don't exist yet (true pre-revenue), that pillar excludes itself from the completeness denominator entirely and scores a neutral 60 — it doesn't penalize a company for a stage it hasn't reached.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406640" y="3977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 IT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06640" y="4270248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83.4 — large TAM with credible “why now” timing.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Differentiation: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— the softest pillar; defensibility is the open diligence question.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777240" cy="77724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00200" y="34747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NIMRI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00200" y="7498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Nishant India Macro Regime Index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600200" y="12252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84.4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108960" y="128016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/ Goldilocks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Classifies India's macro cycle into a named regime with an asset-allocation tilt — not just a number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7680960" cy="365760"/>
          </a:xfrm>
          <a:prstGeom prst="roundRect">
            <a:avLst>
              <a:gd name="adj" fmla="val 12500"/>
            </a:avLst>
          </a:prstGeom>
          <a:solidFill>
            <a:srgbClr val="141B45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194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931920" y="21945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09160" y="21945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0" y="2194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560320"/>
            <a:ext cx="7680960" cy="566928"/>
          </a:xfrm>
          <a:prstGeom prst="rect">
            <a:avLst/>
          </a:prstGeom>
          <a:solidFill>
            <a:srgbClr val="283374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Momentum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931920" y="256032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09160" y="256032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0" y="256032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vs. trend, IIP YoY, composite PMI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85800" y="312724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Inflation &amp; Monetary Stance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931920" y="3127248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09160" y="3127248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0" y="312724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vs. RBI's 4%±2% target, real repo rate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3694176"/>
            <a:ext cx="7680960" cy="566928"/>
          </a:xfrm>
          <a:prstGeom prst="rect">
            <a:avLst/>
          </a:prstGeom>
          <a:solidFill>
            <a:srgbClr val="283374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69417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Sector Health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931920" y="3694176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09160" y="3694176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90.5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8640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account, FX reserve adequacy, INR volatility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85800" y="42611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 Health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931920" y="4261104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09160" y="4261104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92.5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486400" y="426110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Deficit vs. target, capex-quality adjustment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8640" y="4828032"/>
            <a:ext cx="7680960" cy="566928"/>
          </a:xfrm>
          <a:prstGeom prst="rect">
            <a:avLst/>
          </a:prstGeom>
          <a:solidFill>
            <a:srgbClr val="283374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482803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&amp; Liquidity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931920" y="4828032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709160" y="4828032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93.0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486400" y="482803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growth, systemic liquidity stance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85800" y="5394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Flows &amp; Confidence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931920" y="539496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09160" y="539496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84.2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486400" y="53949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FPI/FDI flows, sovereign risk premium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458200" y="2194560"/>
            <a:ext cx="3154680" cy="3886200"/>
          </a:xfrm>
          <a:prstGeom prst="roundRect">
            <a:avLst>
              <a:gd name="adj" fmla="val 2609"/>
            </a:avLst>
          </a:prstGeom>
          <a:solidFill>
            <a:srgbClr val="283374"/>
          </a:solidFill>
          <a:ln/>
        </p:spPr>
      </p:sp>
      <p:sp>
        <p:nvSpPr>
          <p:cNvPr id="42" name="Text 40"/>
          <p:cNvSpPr/>
          <p:nvPr/>
        </p:nvSpPr>
        <p:spPr>
          <a:xfrm>
            <a:off x="8686800" y="24231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ASSET-ALLOCATION TILT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686800" y="274320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Overweight equities. Tilt toward cyclicals and small/mid-caps. Risk-on across the book.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686800" y="5257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regime label + tilt is more actionable to a portfolio committee than a bare index number — that's the point of naming it, not just scoring it.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777240" cy="77724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00200" y="34747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NLNES + NCH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00200" y="7498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Nishant Logistics Network Efficiency Score + Consolidation Heuristic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600200" y="12252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64.8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108960" y="128016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Adequate (diagnostic)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related tools: a network-health diagnostic, and a route-consolidation heuristic that actually re-plans shipments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2194560"/>
          <a:ext cx="57607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583680" y="2194560"/>
            <a:ext cx="5029200" cy="3931920"/>
          </a:xfrm>
          <a:prstGeom prst="roundRect">
            <a:avLst>
              <a:gd name="adj" fmla="val 2093"/>
            </a:avLst>
          </a:prstGeom>
          <a:solidFill>
            <a:srgbClr val="283374"/>
          </a:solidFill>
          <a:ln/>
        </p:spPr>
      </p:sp>
      <p:sp>
        <p:nvSpPr>
          <p:cNvPr id="11" name="Text 8"/>
          <p:cNvSpPr/>
          <p:nvPr/>
        </p:nvSpPr>
        <p:spPr>
          <a:xfrm>
            <a:off x="6812280" y="23957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NCH — A ROUTE CONSOLIDATION RUN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12280" y="2679192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Clarke-Wright savings backbone (Clarke &amp; Wright, 1964) + a proprietary priority-weighting overlay for customer tier, SLA urgency, and carbon impact.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812280" y="3383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4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812280" y="395020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km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27532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778240" y="3383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4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41.8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8778240" y="395020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km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0241280" y="33832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4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40.3%</a:t>
            </a:r>
            <a:endParaRPr lang="en-US" sz="3000" dirty="0"/>
          </a:p>
        </p:txBody>
      </p:sp>
      <p:sp>
        <p:nvSpPr>
          <p:cNvPr id="19" name="Text 16"/>
          <p:cNvSpPr/>
          <p:nvPr/>
        </p:nvSpPr>
        <p:spPr>
          <a:xfrm>
            <a:off x="10241280" y="39502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81228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ROUTES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812280" y="472744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R1: 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 → A → E → depot   —   18.94 km
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R2: 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 → B → D → C → depot   —   22.83 km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812280" y="54406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Priority-weighting pulled the B–D merge (premium tier, tight SLA) ahead of pairs with higher raw distance savings — the routes reflect urgency, not just geography.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LIBRARY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eight, at a glance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874520"/>
          <a:ext cx="110642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PROPERTY POSTURE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 secret today — patent-eligibility is a separate question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49240" cy="4114800"/>
          </a:xfrm>
          <a:prstGeom prst="roundRect">
            <a:avLst>
              <a:gd name="adj" fmla="val 2000"/>
            </a:avLst>
          </a:prstGeom>
          <a:solidFill>
            <a:srgbClr val="28337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14884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SECRET — APPLIES NOW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56032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applies automatically, simply by being original, non-public, and treated as confidential. That's the primary protection this whole library is written to support — every algorithm is named, versioned, and specified precisely enough to be defensible as original work product.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920240"/>
            <a:ext cx="5349240" cy="4114800"/>
          </a:xfrm>
          <a:prstGeom prst="roundRect">
            <a:avLst>
              <a:gd name="adj" fmla="val 2000"/>
            </a:avLst>
          </a:prstGeom>
          <a:solidFill>
            <a:srgbClr val="283374"/>
          </a:solidFill>
          <a:ln/>
        </p:spPr>
      </p:sp>
      <p:sp>
        <p:nvSpPr>
          <p:cNvPr id="8" name="Text 6"/>
          <p:cNvSpPr/>
          <p:nvPr/>
        </p:nvSpPr>
        <p:spPr>
          <a:xfrm>
            <a:off x="6446520" y="214884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ELIGIBILITY — A HARDER BAR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256032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</a:t>
            </a:r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/ Mayo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framework, abstract algorithms and business methods generally fail US patent-eligibility review unless tied to a specific technical improvement — not just “a new way to weight financial ratios.”
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NCH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(logistics route consolidation) is the strongest candidate here — a concrete computational method with a measurable output. The pure scoring models are trade secrets first.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626364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“Patentable” in this library means specified with enough novelty and precision to be a serious patent-counsel conversation — not “patented,” and not a guarantee. Filing requires counsel.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library, not a one-off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skill shares one structure — SKILL.md, a methodology doc, and a runnable reference script — so extending into a new niche means re-deriving pillar weights against that niche's real drivers, not inventing a new framework from scratch.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457200" cy="45720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63040" y="2606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SKILL.md first — front-load the description with real trigger phrases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457200" cy="45720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33832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algorithm in reference/algorithm.md before writing any code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4160520"/>
            <a:ext cx="457200" cy="45720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4160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scripts/score.js as a literal, checkable implementation — never hand-computed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937760"/>
            <a:ext cx="457200" cy="45720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4937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row to the library index — a score means the same thing to anyone, a year from now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BY NISHANT PRABHAKAR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2026-08-10T07:19:22Z</dcterms:created>
  <dcterms:modified xsi:type="dcterms:W3CDTF">2026-08-10T07:19:22Z</dcterms:modified>
</cp:coreProperties>
</file>